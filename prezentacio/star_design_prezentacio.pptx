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  <p:sldId id="257" r:id="rId3"/>
    <p:sldId id="259" r:id="rId4"/>
    <p:sldId id="267" r:id="rId5"/>
    <p:sldId id="261" r:id="rId6"/>
    <p:sldId id="262" r:id="rId7"/>
    <p:sldId id="268" r:id="rId8"/>
    <p:sldId id="269" r:id="rId9"/>
    <p:sldId id="270" r:id="rId10"/>
    <p:sldId id="271" r:id="rId11"/>
    <p:sldId id="272" r:id="rId12"/>
    <p:sldId id="265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5132" y="3887812"/>
            <a:ext cx="9146751" cy="607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44269"/>
            <a:ext cx="8534400" cy="6675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0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07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5132" y="3887812"/>
            <a:ext cx="9146751" cy="607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851528"/>
            <a:ext cx="7886700" cy="6696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40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67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74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7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40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29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61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70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46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601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2CC5DEC-38C5-4E54-97B1-7B90866D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132" y="3887812"/>
            <a:ext cx="914675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1BEFEC1-A6C6-4D26-BCDD-55F657FD2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132" y="2059012"/>
            <a:ext cx="9146750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 useBgFill="1">
        <p:nvSpPr>
          <p:cNvPr id="7" name="Rectangle 11">
            <a:extLst>
              <a:ext uri="{FF2B5EF4-FFF2-40B4-BE49-F238E27FC236}">
                <a16:creationId xmlns:a16="http://schemas.microsoft.com/office/drawing/2014/main" id="{05199DC7-A76E-4D53-978D-FE9964B4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84DED6C1-4644-4EF9-95B6-C79E5FFEE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132" y="2059012"/>
            <a:ext cx="9146750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4DFB5E2-10AE-4008-BD3E-10B2D212B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132" y="3887812"/>
            <a:ext cx="914675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30" y="2194560"/>
            <a:ext cx="8435340" cy="17393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000" spc="150">
                <a:solidFill>
                  <a:schemeClr val="bg1"/>
                </a:solidFill>
              </a:rPr>
              <a:t>Star Design Weboldal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3915937"/>
            <a:ext cx="8629650" cy="123616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hu-HU" sz="2000" dirty="0">
                <a:solidFill>
                  <a:srgbClr val="FFFFFF"/>
                </a:solidFill>
              </a:rPr>
              <a:t>Szoftverfejlesztő és –tesztelő vizsga</a:t>
            </a:r>
          </a:p>
          <a:p>
            <a:pPr marL="0" indent="0" algn="ctr">
              <a:buNone/>
            </a:pPr>
            <a:r>
              <a:rPr lang="hu-HU" sz="2000" dirty="0">
                <a:solidFill>
                  <a:srgbClr val="FFFFFF"/>
                </a:solidFill>
              </a:rPr>
              <a:t> 2026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B700493-5989-F206-F7C7-A94C1D20F3B1}"/>
              </a:ext>
            </a:extLst>
          </p:cNvPr>
          <p:cNvSpPr txBox="1"/>
          <p:nvPr/>
        </p:nvSpPr>
        <p:spPr>
          <a:xfrm>
            <a:off x="3176978" y="4836655"/>
            <a:ext cx="278252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u="sng" dirty="0"/>
              <a:t>Készítette:</a:t>
            </a:r>
          </a:p>
          <a:p>
            <a:pPr algn="ctr"/>
            <a:r>
              <a:rPr lang="hu-HU" dirty="0"/>
              <a:t>Veress Éva</a:t>
            </a:r>
          </a:p>
          <a:p>
            <a:pPr algn="ctr"/>
            <a:r>
              <a:rPr lang="hu-HU" dirty="0" err="1"/>
              <a:t>Bazsika</a:t>
            </a:r>
            <a:r>
              <a:rPr lang="hu-HU" dirty="0"/>
              <a:t> Levente</a:t>
            </a:r>
          </a:p>
          <a:p>
            <a:pPr algn="ctr"/>
            <a:r>
              <a:rPr lang="hu-HU" dirty="0"/>
              <a:t>Endrész Róbert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Bevezetés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7690" y="2135053"/>
            <a:ext cx="6292645" cy="2790908"/>
          </a:xfrm>
        </p:spPr>
        <p:txBody>
          <a:bodyPr>
            <a:normAutofit/>
          </a:bodyPr>
          <a:lstStyle/>
          <a:p>
            <a:r>
              <a:rPr lang="en-US" dirty="0"/>
              <a:t>A Star Design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egyedi</a:t>
            </a:r>
            <a:r>
              <a:rPr lang="en-US" dirty="0"/>
              <a:t> </a:t>
            </a:r>
            <a:r>
              <a:rPr lang="en-US" dirty="0" err="1"/>
              <a:t>grafikai</a:t>
            </a:r>
            <a:r>
              <a:rPr lang="en-US" dirty="0"/>
              <a:t> </a:t>
            </a:r>
            <a:r>
              <a:rPr lang="en-US" dirty="0" err="1"/>
              <a:t>tervezői</a:t>
            </a:r>
            <a:r>
              <a:rPr lang="en-US" dirty="0"/>
              <a:t> </a:t>
            </a:r>
            <a:r>
              <a:rPr lang="en-US" dirty="0" err="1"/>
              <a:t>bemutatkozó</a:t>
            </a:r>
            <a:r>
              <a:rPr lang="en-US" dirty="0"/>
              <a:t> </a:t>
            </a:r>
            <a:r>
              <a:rPr lang="en-US" dirty="0" err="1"/>
              <a:t>weboldal</a:t>
            </a:r>
            <a:endParaRPr lang="hu-HU" dirty="0"/>
          </a:p>
          <a:p>
            <a:endParaRPr lang="hu-HU" dirty="0"/>
          </a:p>
          <a:p>
            <a:r>
              <a:rPr lang="hu-HU" dirty="0"/>
              <a:t>A projekt valós igényre épül</a:t>
            </a:r>
          </a:p>
          <a:p>
            <a:endParaRPr lang="hu-HU" dirty="0"/>
          </a:p>
          <a:p>
            <a:r>
              <a:rPr lang="hu-HU" dirty="0"/>
              <a:t>Célok: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4A5B1C9-B720-74B0-D9E7-5BB9E41B49DA}"/>
              </a:ext>
            </a:extLst>
          </p:cNvPr>
          <p:cNvSpPr txBox="1"/>
          <p:nvPr/>
        </p:nvSpPr>
        <p:spPr>
          <a:xfrm>
            <a:off x="2639962" y="4372098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Grafikus munkák bemutatása</a:t>
            </a:r>
          </a:p>
          <a:p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Kapcsolatfelvétel és –tartás</a:t>
            </a:r>
          </a:p>
          <a:p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Projekt tervező felület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Weboldal felépítése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296815"/>
            <a:ext cx="7772400" cy="4206240"/>
          </a:xfrm>
        </p:spPr>
        <p:txBody>
          <a:bodyPr/>
          <a:lstStyle/>
          <a:p>
            <a:r>
              <a:rPr dirty="0" err="1"/>
              <a:t>Főoldal</a:t>
            </a:r>
            <a:r>
              <a:rPr lang="hu-HU" dirty="0"/>
              <a:t>:</a:t>
            </a:r>
            <a:r>
              <a:rPr dirty="0"/>
              <a:t> </a:t>
            </a:r>
            <a:r>
              <a:rPr dirty="0" err="1"/>
              <a:t>bemutatkozás</a:t>
            </a:r>
            <a:r>
              <a:rPr dirty="0"/>
              <a:t>, </a:t>
            </a:r>
            <a:r>
              <a:rPr lang="hu-HU" dirty="0"/>
              <a:t>vélemények, kapcsolatfelvétel</a:t>
            </a:r>
          </a:p>
          <a:p>
            <a:endParaRPr dirty="0"/>
          </a:p>
          <a:p>
            <a:r>
              <a:rPr dirty="0" err="1"/>
              <a:t>Portfólió</a:t>
            </a:r>
            <a:r>
              <a:rPr dirty="0"/>
              <a:t> </a:t>
            </a:r>
            <a:r>
              <a:rPr dirty="0" err="1"/>
              <a:t>oldal</a:t>
            </a:r>
            <a:r>
              <a:rPr lang="hu-HU" dirty="0"/>
              <a:t>: referenciamunkák bemutatása </a:t>
            </a:r>
            <a:r>
              <a:rPr dirty="0" err="1"/>
              <a:t>kategóriák</a:t>
            </a:r>
            <a:r>
              <a:rPr dirty="0"/>
              <a:t> </a:t>
            </a:r>
            <a:r>
              <a:rPr dirty="0" err="1"/>
              <a:t>szerint</a:t>
            </a:r>
            <a:r>
              <a:rPr lang="hu-HU" dirty="0"/>
              <a:t> – kitűzők, logók, pólóminták, plakátok, meghívók</a:t>
            </a:r>
          </a:p>
          <a:p>
            <a:pPr marL="0" indent="0">
              <a:buNone/>
            </a:pPr>
            <a:endParaRPr dirty="0"/>
          </a:p>
          <a:p>
            <a:r>
              <a:rPr lang="hu-HU" dirty="0"/>
              <a:t>Projekttervező varázsló: 7 lépéses interaktív, könnyen kezelhető alkalmazás a felhasználói igények egyszerű, gyors és hatékony rögzítése céljából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5845F9A-6C91-3FD3-3206-61501E297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5393"/>
            <a:ext cx="9144000" cy="43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02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Kapcsolati űrlap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431" y="2277500"/>
            <a:ext cx="3670671" cy="4442214"/>
          </a:xfrm>
        </p:spPr>
        <p:txBody>
          <a:bodyPr/>
          <a:lstStyle/>
          <a:p>
            <a:r>
              <a:rPr dirty="0" err="1"/>
              <a:t>Név</a:t>
            </a:r>
            <a:r>
              <a:rPr dirty="0"/>
              <a:t>, email, </a:t>
            </a:r>
            <a:r>
              <a:rPr dirty="0" err="1"/>
              <a:t>üzenet</a:t>
            </a:r>
            <a:r>
              <a:rPr dirty="0"/>
              <a:t> </a:t>
            </a:r>
            <a:r>
              <a:rPr dirty="0" err="1"/>
              <a:t>megadása</a:t>
            </a:r>
            <a:endParaRPr lang="hu-HU" dirty="0"/>
          </a:p>
          <a:p>
            <a:endParaRPr dirty="0"/>
          </a:p>
          <a:p>
            <a:r>
              <a:rPr dirty="0" err="1"/>
              <a:t>Adatbázisba</a:t>
            </a:r>
            <a:r>
              <a:rPr dirty="0"/>
              <a:t> </a:t>
            </a:r>
            <a:r>
              <a:rPr dirty="0" err="1"/>
              <a:t>mentés</a:t>
            </a:r>
            <a:endParaRPr lang="hu-HU" dirty="0"/>
          </a:p>
          <a:p>
            <a:endParaRPr dirty="0"/>
          </a:p>
          <a:p>
            <a:r>
              <a:rPr dirty="0"/>
              <a:t>Email </a:t>
            </a:r>
            <a:r>
              <a:rPr dirty="0" err="1"/>
              <a:t>értesítés</a:t>
            </a:r>
            <a:endParaRPr lang="hu-HU" dirty="0"/>
          </a:p>
          <a:p>
            <a:endParaRPr dirty="0"/>
          </a:p>
          <a:p>
            <a:r>
              <a:rPr dirty="0"/>
              <a:t>Spam </a:t>
            </a:r>
            <a:r>
              <a:rPr dirty="0" err="1"/>
              <a:t>védelem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C1AC8DD-C4D4-5D1B-68DA-583FEC5C3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102" y="2131610"/>
            <a:ext cx="4813820" cy="4310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felület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549" y="2387763"/>
            <a:ext cx="2873419" cy="3651701"/>
          </a:xfrm>
        </p:spPr>
        <p:txBody>
          <a:bodyPr>
            <a:normAutofit/>
          </a:bodyPr>
          <a:lstStyle/>
          <a:p>
            <a:r>
              <a:rPr dirty="0" err="1"/>
              <a:t>Bejelentkezés</a:t>
            </a:r>
            <a:endParaRPr lang="hu-HU" dirty="0"/>
          </a:p>
          <a:p>
            <a:endParaRPr dirty="0"/>
          </a:p>
          <a:p>
            <a:r>
              <a:rPr dirty="0" err="1"/>
              <a:t>Üzenetek</a:t>
            </a:r>
            <a:r>
              <a:rPr dirty="0"/>
              <a:t> </a:t>
            </a:r>
            <a:r>
              <a:rPr dirty="0" err="1"/>
              <a:t>kezelése</a:t>
            </a:r>
            <a:endParaRPr lang="hu-HU" dirty="0"/>
          </a:p>
          <a:p>
            <a:endParaRPr dirty="0"/>
          </a:p>
          <a:p>
            <a:r>
              <a:rPr dirty="0" err="1"/>
              <a:t>Képek</a:t>
            </a:r>
            <a:r>
              <a:rPr dirty="0"/>
              <a:t> </a:t>
            </a:r>
            <a:r>
              <a:rPr dirty="0" err="1"/>
              <a:t>feltöltése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törlése</a:t>
            </a:r>
            <a:endParaRPr lang="hu-HU" dirty="0"/>
          </a:p>
          <a:p>
            <a:endParaRPr lang="hu-HU" dirty="0"/>
          </a:p>
          <a:p>
            <a:r>
              <a:rPr lang="hu-HU" dirty="0"/>
              <a:t>Tervezet fogadása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A5CCF72-A1D4-2251-6810-D725CFC1F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46" y="1927122"/>
            <a:ext cx="5390948" cy="4930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8B38DE-53D6-B27C-DD04-193ED2EC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Virtuális Tervező varázsló</a:t>
            </a:r>
          </a:p>
        </p:txBody>
      </p:sp>
      <p:pic>
        <p:nvPicPr>
          <p:cNvPr id="4" name="2026-04-28 18-14-27">
            <a:hlinkClick r:id="" action="ppaction://media"/>
            <a:extLst>
              <a:ext uri="{FF2B5EF4-FFF2-40B4-BE49-F238E27FC236}">
                <a16:creationId xmlns:a16="http://schemas.microsoft.com/office/drawing/2014/main" id="{11CE84D8-DF4F-3E4D-542E-35802B36A88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5019" y="1934651"/>
            <a:ext cx="7772399" cy="4372077"/>
          </a:xfrm>
        </p:spPr>
      </p:pic>
    </p:spTree>
    <p:extLst>
      <p:ext uri="{BB962C8B-B14F-4D97-AF65-F5344CB8AC3E}">
        <p14:creationId xmlns:p14="http://schemas.microsoft.com/office/powerpoint/2010/main" val="709821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78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FCDA47-802B-976E-4F8A-A9BF7417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Probléma - megoldás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70101BF-3B53-6D64-1F7F-55D283D0A836}"/>
              </a:ext>
            </a:extLst>
          </p:cNvPr>
          <p:cNvSpPr txBox="1"/>
          <p:nvPr/>
        </p:nvSpPr>
        <p:spPr>
          <a:xfrm>
            <a:off x="685019" y="2391044"/>
            <a:ext cx="786748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hu-HU" sz="2000" dirty="0">
                <a:latin typeface="gg sans"/>
              </a:rPr>
              <a:t>A</a:t>
            </a:r>
            <a:r>
              <a:rPr lang="hu-HU" sz="2000" b="0" i="0" dirty="0">
                <a:effectLst/>
                <a:latin typeface="gg sans"/>
              </a:rPr>
              <a:t> navigáció működésnél fellépő problémát mutatjuk be részletesen:</a:t>
            </a:r>
          </a:p>
          <a:p>
            <a:pPr algn="just"/>
            <a:endParaRPr lang="hu-HU" dirty="0">
              <a:latin typeface="gg sans"/>
            </a:endParaRPr>
          </a:p>
          <a:p>
            <a:pPr algn="just"/>
            <a:r>
              <a:rPr lang="hu-HU" b="0" i="0" dirty="0">
                <a:effectLst/>
                <a:latin typeface="gg sans"/>
              </a:rPr>
              <a:t>A fejlécben és a láblécben elhelyezett gombok nem ugyanarra a pozícióra navigáltak az oldalon, így a felhasználói élmény nem volt egységes. A probléma oka az volt, hogy a fixen pozícionált fejléc kitakarta a célzott szekciók tetejét, ezért a görgetés nem pontos helyre érkezett. Ezt CSS segítségével oldottuk meg, úgy, hogy a szekciókhoz megfelelő felső margót állítottunk be, figyelembe véve a fejléc magasságát, így a navigáció minden esetben pontosan működik.</a:t>
            </a:r>
          </a:p>
          <a:p>
            <a:pPr algn="just"/>
            <a:endParaRPr lang="hu-HU" dirty="0">
              <a:latin typeface="gg sans"/>
            </a:endParaRPr>
          </a:p>
          <a:p>
            <a:pPr algn="just"/>
            <a:r>
              <a:rPr lang="hu-HU" b="0" i="0" dirty="0">
                <a:effectLst/>
                <a:latin typeface="gg sans"/>
              </a:rPr>
              <a:t>CSS kód: </a:t>
            </a:r>
            <a:r>
              <a:rPr lang="hu-HU" b="0" i="0" dirty="0" err="1">
                <a:effectLst/>
                <a:latin typeface="gg sans"/>
              </a:rPr>
              <a:t>section</a:t>
            </a:r>
            <a:r>
              <a:rPr lang="hu-HU" b="0" i="0" dirty="0">
                <a:effectLst/>
                <a:latin typeface="gg sans"/>
              </a:rPr>
              <a:t> { </a:t>
            </a:r>
            <a:r>
              <a:rPr lang="hu-HU" b="0" i="0" dirty="0" err="1">
                <a:effectLst/>
                <a:latin typeface="gg sans"/>
              </a:rPr>
              <a:t>scroll</a:t>
            </a:r>
            <a:r>
              <a:rPr lang="hu-HU" b="0" i="0" dirty="0">
                <a:effectLst/>
                <a:latin typeface="gg sans"/>
              </a:rPr>
              <a:t>-margin-top: 80px; }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0762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227858-B1A3-0FB8-1B7E-1BAA1658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Kódrészlet bemutatása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F72430E-B9C6-42C9-9913-725FEAE153C9}"/>
              </a:ext>
            </a:extLst>
          </p:cNvPr>
          <p:cNvSpPr txBox="1"/>
          <p:nvPr/>
        </p:nvSpPr>
        <p:spPr>
          <a:xfrm>
            <a:off x="596529" y="1995700"/>
            <a:ext cx="8134516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hu-HU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pdo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uzenetek</a:t>
            </a:r>
            <a:endParaRPr lang="hu-HU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hu-HU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	 (</a:t>
            </a:r>
            <a:r>
              <a:rPr lang="hu-H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ugyfel_nev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ugyfel_email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targy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uzenet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letrehozva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hu-H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(?, ?, ?, ?, </a:t>
            </a:r>
            <a:r>
              <a:rPr lang="hu-H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())"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endParaRPr lang="hu-HU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'Kapcsolati űrlap üzenet'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mail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$body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hu-H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headers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hu-H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hu-H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hu-H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index.html?sent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=1’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hu-H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>
              <a:lnSpc>
                <a:spcPts val="1425"/>
              </a:lnSpc>
              <a:buNone/>
            </a:pPr>
            <a:endParaRPr lang="hu-HU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hu-HU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"HIBA: "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hu-H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hu-HU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u-H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hu-H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160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9EB7CA-E14E-0B4A-FBAA-C2401C89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Kódrészlet leírása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3B587CB-1F44-772B-7E3F-EC5E6446B710}"/>
              </a:ext>
            </a:extLst>
          </p:cNvPr>
          <p:cNvSpPr txBox="1"/>
          <p:nvPr/>
        </p:nvSpPr>
        <p:spPr>
          <a:xfrm>
            <a:off x="270387" y="2015614"/>
            <a:ext cx="86032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dirty="0"/>
              <a:t>A kódrészlet az üzenetküldés során futó algoritmus, a következő feladatokat látja el lépésről lépésre, kódról kódra:</a:t>
            </a:r>
          </a:p>
          <a:p>
            <a:pPr algn="just"/>
            <a:endParaRPr lang="hu-HU" dirty="0"/>
          </a:p>
          <a:p>
            <a:pPr algn="just"/>
            <a:r>
              <a:rPr lang="hu-HU" dirty="0"/>
              <a:t>A </a:t>
            </a:r>
            <a:r>
              <a:rPr lang="hu-HU" dirty="0" err="1"/>
              <a:t>try</a:t>
            </a:r>
            <a:r>
              <a:rPr lang="hu-HU" dirty="0"/>
              <a:t>{ } blokk jelentése: megpróbáljuk lefuttatni az ide tartozó kódot. Ha hiba lép fel, automatikusan átugrik a </a:t>
            </a:r>
            <a:r>
              <a:rPr lang="hu-HU" dirty="0" err="1"/>
              <a:t>catch</a:t>
            </a:r>
            <a:r>
              <a:rPr lang="hu-HU" dirty="0"/>
              <a:t>{ } blokkba.</a:t>
            </a:r>
          </a:p>
          <a:p>
            <a:pPr algn="just"/>
            <a:r>
              <a:rPr lang="hu-HU" dirty="0">
                <a:solidFill>
                  <a:srgbClr val="9CDCFE"/>
                </a:solidFill>
                <a:latin typeface="Consolas" panose="020B0609020204030204" pitchFamily="49" charset="0"/>
              </a:rPr>
              <a:t>$</a:t>
            </a:r>
            <a:r>
              <a:rPr lang="hu-HU" dirty="0" err="1">
                <a:solidFill>
                  <a:srgbClr val="9CDCFE"/>
                </a:solidFill>
                <a:latin typeface="Consolas" panose="020B0609020204030204" pitchFamily="49" charset="0"/>
              </a:rPr>
              <a:t>stmt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hu-HU" dirty="0">
                <a:solidFill>
                  <a:srgbClr val="9CDCFE"/>
                </a:solidFill>
                <a:latin typeface="Consolas" panose="020B0609020204030204" pitchFamily="49" charset="0"/>
              </a:rPr>
              <a:t>$</a:t>
            </a:r>
            <a:r>
              <a:rPr lang="hu-HU" dirty="0" err="1">
                <a:solidFill>
                  <a:srgbClr val="9CDCFE"/>
                </a:solidFill>
                <a:latin typeface="Consolas" panose="020B0609020204030204" pitchFamily="49" charset="0"/>
              </a:rPr>
              <a:t>pdo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hu-HU" dirty="0" err="1">
                <a:solidFill>
                  <a:srgbClr val="DCDCAA"/>
                </a:solidFill>
                <a:latin typeface="Consolas" panose="020B0609020204030204" pitchFamily="49" charset="0"/>
              </a:rPr>
              <a:t>prepare:</a:t>
            </a:r>
            <a:r>
              <a:rPr lang="hu-HU" dirty="0" err="1"/>
              <a:t>SQL</a:t>
            </a:r>
            <a:r>
              <a:rPr lang="hu-HU" dirty="0"/>
              <a:t> előkészítés: létrejön az SQL utasítás helyőrzőkkel – ide kerülnek be az értékek. Védi a rendszert az SQL </a:t>
            </a:r>
            <a:r>
              <a:rPr lang="hu-HU" dirty="0" err="1"/>
              <a:t>injection</a:t>
            </a:r>
            <a:r>
              <a:rPr lang="hu-HU" dirty="0"/>
              <a:t> támadások ellen.</a:t>
            </a:r>
          </a:p>
          <a:p>
            <a:pPr algn="just"/>
            <a:r>
              <a:rPr lang="hu-HU" dirty="0">
                <a:solidFill>
                  <a:srgbClr val="9CDCFE"/>
                </a:solidFill>
                <a:latin typeface="Consolas" panose="020B0609020204030204" pitchFamily="49" charset="0"/>
              </a:rPr>
              <a:t>$</a:t>
            </a:r>
            <a:r>
              <a:rPr lang="hu-HU" dirty="0" err="1">
                <a:solidFill>
                  <a:srgbClr val="9CDCFE"/>
                </a:solidFill>
                <a:latin typeface="Consolas" panose="020B0609020204030204" pitchFamily="49" charset="0"/>
              </a:rPr>
              <a:t>stmt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hu-HU" dirty="0" err="1">
                <a:solidFill>
                  <a:srgbClr val="DCDCAA"/>
                </a:solidFill>
                <a:latin typeface="Consolas" panose="020B0609020204030204" pitchFamily="49" charset="0"/>
              </a:rPr>
              <a:t>execute:</a:t>
            </a:r>
            <a:r>
              <a:rPr lang="hu-HU" dirty="0" err="1"/>
              <a:t>A</a:t>
            </a:r>
            <a:r>
              <a:rPr lang="hu-HU" dirty="0"/>
              <a:t> felhasználó által beírt adatok behelyettesítése, ekkor lefut az SQL, és bekerül az üzenet az adatbázisba.</a:t>
            </a:r>
          </a:p>
          <a:p>
            <a:pPr algn="just"/>
            <a:r>
              <a:rPr lang="hu-HU" dirty="0"/>
              <a:t>mail() : e-mail elküldése, nem kötelező a sikeres lefutáshoz, enélkül is megtörténhet az adatbázisba mentés.</a:t>
            </a:r>
          </a:p>
          <a:p>
            <a:pPr algn="just"/>
            <a:r>
              <a:rPr lang="hu-HU" dirty="0" err="1"/>
              <a:t>header</a:t>
            </a:r>
            <a:r>
              <a:rPr lang="hu-HU" dirty="0"/>
              <a:t>() : főoldalra visszairányít, URL-be mentett új információval, aminek segítségével kiíratható a sikeres küldés.</a:t>
            </a:r>
          </a:p>
          <a:p>
            <a:pPr algn="just"/>
            <a:r>
              <a:rPr lang="hu-HU" dirty="0" err="1"/>
              <a:t>exit</a:t>
            </a:r>
            <a:r>
              <a:rPr lang="hu-HU" dirty="0"/>
              <a:t> : leállítja a scriptet.</a:t>
            </a:r>
          </a:p>
          <a:p>
            <a:pPr algn="just"/>
            <a:r>
              <a:rPr lang="hu-HU" dirty="0" err="1"/>
              <a:t>catch</a:t>
            </a:r>
            <a:r>
              <a:rPr lang="hu-HU" dirty="0"/>
              <a:t> blokk: ide akkor lép be, ha hiba történt a </a:t>
            </a:r>
            <a:r>
              <a:rPr lang="hu-HU" dirty="0" err="1"/>
              <a:t>try</a:t>
            </a:r>
            <a:r>
              <a:rPr lang="hu-HU" dirty="0"/>
              <a:t>-ban, pl.: adatbázis hiba.</a:t>
            </a:r>
          </a:p>
          <a:p>
            <a:pPr algn="just"/>
            <a:r>
              <a:rPr lang="hu-HU" dirty="0" err="1"/>
              <a:t>echo</a:t>
            </a:r>
            <a:r>
              <a:rPr lang="hu-HU" dirty="0"/>
              <a:t>: kiírja a konkrét hibát.</a:t>
            </a:r>
          </a:p>
          <a:p>
            <a:pPr algn="just"/>
            <a:endParaRPr lang="hu-HU" dirty="0"/>
          </a:p>
          <a:p>
            <a:pPr algn="just"/>
            <a:endParaRPr lang="hu-HU" dirty="0"/>
          </a:p>
          <a:p>
            <a:pPr algn="just"/>
            <a:r>
              <a:rPr lang="hu-HU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19888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27B44C-8368-F195-017F-7F2F7AAC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Feladatok és csapatmunka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A893F08-C110-9944-0193-956F58CC653C}"/>
              </a:ext>
            </a:extLst>
          </p:cNvPr>
          <p:cNvSpPr txBox="1"/>
          <p:nvPr/>
        </p:nvSpPr>
        <p:spPr>
          <a:xfrm>
            <a:off x="887419" y="2718616"/>
            <a:ext cx="736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 </a:t>
            </a:r>
            <a:r>
              <a:rPr lang="en-US" dirty="0" err="1"/>
              <a:t>fejlesztés</a:t>
            </a:r>
            <a:r>
              <a:rPr lang="en-US" dirty="0"/>
              <a:t> </a:t>
            </a:r>
            <a:r>
              <a:rPr lang="en-US" dirty="0" err="1"/>
              <a:t>során</a:t>
            </a:r>
            <a:r>
              <a:rPr lang="en-US" dirty="0"/>
              <a:t> a </a:t>
            </a:r>
            <a:r>
              <a:rPr lang="en-US" dirty="0" err="1"/>
              <a:t>feladatok</a:t>
            </a:r>
            <a:r>
              <a:rPr lang="en-US" dirty="0"/>
              <a:t> </a:t>
            </a:r>
            <a:r>
              <a:rPr lang="en-US" dirty="0" err="1"/>
              <a:t>megosztva</a:t>
            </a:r>
            <a:r>
              <a:rPr lang="en-US" dirty="0"/>
              <a:t> </a:t>
            </a:r>
            <a:r>
              <a:rPr lang="en-US" dirty="0" err="1"/>
              <a:t>zajlottak</a:t>
            </a:r>
            <a:r>
              <a:rPr lang="en-US" dirty="0"/>
              <a:t>: a </a:t>
            </a:r>
            <a:r>
              <a:rPr lang="en-US" dirty="0" err="1"/>
              <a:t>grafikai</a:t>
            </a:r>
            <a:r>
              <a:rPr lang="en-US" dirty="0"/>
              <a:t> </a:t>
            </a:r>
            <a:r>
              <a:rPr lang="en-US" dirty="0" err="1"/>
              <a:t>elemeket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tervező</a:t>
            </a:r>
            <a:r>
              <a:rPr lang="en-US" dirty="0"/>
              <a:t> </a:t>
            </a:r>
            <a:r>
              <a:rPr lang="en-US" dirty="0" err="1"/>
              <a:t>varázsló</a:t>
            </a:r>
            <a:r>
              <a:rPr lang="en-US" dirty="0"/>
              <a:t> </a:t>
            </a:r>
            <a:r>
              <a:rPr lang="en-US" dirty="0" err="1"/>
              <a:t>koncepcióját</a:t>
            </a:r>
            <a:r>
              <a:rPr lang="en-US" dirty="0"/>
              <a:t> Móni </a:t>
            </a:r>
            <a:r>
              <a:rPr lang="en-US" dirty="0" err="1"/>
              <a:t>határozta</a:t>
            </a:r>
            <a:r>
              <a:rPr lang="en-US" dirty="0"/>
              <a:t> meg, a </a:t>
            </a:r>
            <a:r>
              <a:rPr lang="en-US" dirty="0" err="1"/>
              <a:t>fejlesztési</a:t>
            </a:r>
            <a:r>
              <a:rPr lang="en-US" dirty="0"/>
              <a:t> </a:t>
            </a:r>
            <a:r>
              <a:rPr lang="en-US" dirty="0" err="1"/>
              <a:t>munkát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kódolást</a:t>
            </a:r>
            <a:r>
              <a:rPr lang="en-US" dirty="0"/>
              <a:t> a </a:t>
            </a:r>
            <a:r>
              <a:rPr lang="en-US" dirty="0" err="1"/>
              <a:t>csapat</a:t>
            </a:r>
            <a:r>
              <a:rPr lang="en-US" dirty="0"/>
              <a:t> </a:t>
            </a:r>
            <a:r>
              <a:rPr lang="en-US" dirty="0" err="1"/>
              <a:t>végezte</a:t>
            </a:r>
            <a:r>
              <a:rPr lang="en-US" dirty="0"/>
              <a:t>. Az </a:t>
            </a:r>
            <a:r>
              <a:rPr lang="en-US" dirty="0" err="1"/>
              <a:t>együttműködés</a:t>
            </a:r>
            <a:r>
              <a:rPr lang="en-US" dirty="0"/>
              <a:t> </a:t>
            </a:r>
            <a:r>
              <a:rPr lang="en-US" dirty="0" err="1"/>
              <a:t>gördülékenyen</a:t>
            </a:r>
            <a:r>
              <a:rPr lang="en-US" dirty="0"/>
              <a:t> </a:t>
            </a:r>
            <a:r>
              <a:rPr lang="en-US" dirty="0" err="1"/>
              <a:t>zajlott</a:t>
            </a:r>
            <a:r>
              <a:rPr lang="en-US" dirty="0"/>
              <a:t>, a </a:t>
            </a:r>
            <a:r>
              <a:rPr lang="en-US" dirty="0" err="1"/>
              <a:t>visszajelzések</a:t>
            </a:r>
            <a:r>
              <a:rPr lang="en-US" dirty="0"/>
              <a:t> </a:t>
            </a:r>
            <a:r>
              <a:rPr lang="en-US" dirty="0" err="1"/>
              <a:t>alapján</a:t>
            </a:r>
            <a:r>
              <a:rPr lang="en-US" dirty="0"/>
              <a:t> </a:t>
            </a:r>
            <a:r>
              <a:rPr lang="en-US" dirty="0" err="1"/>
              <a:t>folyamatosan</a:t>
            </a:r>
            <a:r>
              <a:rPr lang="en-US" dirty="0"/>
              <a:t> </a:t>
            </a:r>
            <a:r>
              <a:rPr lang="en-US" dirty="0" err="1"/>
              <a:t>finomítottuk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oldalt</a:t>
            </a:r>
            <a:r>
              <a:rPr lang="en-US" dirty="0"/>
              <a:t>.</a:t>
            </a:r>
            <a:r>
              <a:rPr lang="hu-HU" dirty="0"/>
              <a:t> A kapcsolattartás a </a:t>
            </a:r>
            <a:r>
              <a:rPr lang="hu-HU" dirty="0" err="1"/>
              <a:t>discord</a:t>
            </a:r>
            <a:r>
              <a:rPr lang="hu-HU" dirty="0"/>
              <a:t> felületén történt, a módosításokat </a:t>
            </a:r>
            <a:r>
              <a:rPr lang="hu-HU" dirty="0" err="1"/>
              <a:t>google</a:t>
            </a:r>
            <a:r>
              <a:rPr lang="hu-HU" dirty="0"/>
              <a:t> drive-</a:t>
            </a:r>
            <a:r>
              <a:rPr lang="hu-HU" dirty="0" err="1"/>
              <a:t>on</a:t>
            </a:r>
            <a:r>
              <a:rPr lang="hu-HU" dirty="0"/>
              <a:t> keresztül osztottuk meg egymással.</a:t>
            </a:r>
            <a:r>
              <a:rPr lang="en-US" dirty="0"/>
              <a:t>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57204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Summary</a:t>
            </a:r>
            <a:r>
              <a:rPr lang="hu-HU" dirty="0"/>
              <a:t> and </a:t>
            </a:r>
            <a:r>
              <a:rPr lang="hu-HU" dirty="0" err="1"/>
              <a:t>future</a:t>
            </a:r>
            <a:r>
              <a:rPr lang="hu-HU" dirty="0"/>
              <a:t> </a:t>
            </a:r>
            <a:r>
              <a:rPr lang="hu-HU" dirty="0" err="1"/>
              <a:t>plans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9" y="2332212"/>
            <a:ext cx="7772400" cy="420624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Since the website provided a solution to a real-world problem, it serves as a good example of how to meet a client’s needs through a web interface. In terms of functionality, we met</a:t>
            </a:r>
            <a:r>
              <a:rPr lang="hu-HU" dirty="0"/>
              <a:t> - </a:t>
            </a:r>
            <a:r>
              <a:rPr lang="en-US" dirty="0"/>
              <a:t>and even exceeded</a:t>
            </a:r>
            <a:r>
              <a:rPr lang="hu-HU" dirty="0"/>
              <a:t> - </a:t>
            </a:r>
            <a:r>
              <a:rPr lang="en-US" dirty="0"/>
              <a:t>the initial requirements, so we consider the project a success. During implementation and testing, potential areas for further development emerged, such as expanding and refining the portfolio or improving the admin interface. The website’s structure is suitable for further development.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CC5DEC-38C5-4E54-97B1-7B90866D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132" y="3887812"/>
            <a:ext cx="914675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BEFEC1-A6C6-4D26-BCDD-55F657FD2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132" y="2059012"/>
            <a:ext cx="9146750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199DC7-A76E-4D53-978D-FE9964B4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DED6C1-4644-4EF9-95B6-C79E5FFEE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132" y="2059012"/>
            <a:ext cx="9146750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DFB5E2-10AE-4008-BD3E-10B2D212B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132" y="3887812"/>
            <a:ext cx="914675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2104E57-12FC-D5A7-C2B8-BAF89E4EA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" y="2194560"/>
            <a:ext cx="8435340" cy="17393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4200" spc="150" dirty="0" err="1">
                <a:solidFill>
                  <a:schemeClr val="bg1"/>
                </a:solidFill>
              </a:rPr>
              <a:t>Köszönjük</a:t>
            </a:r>
            <a:r>
              <a:rPr lang="en-US" sz="4200" spc="150" dirty="0">
                <a:solidFill>
                  <a:schemeClr val="bg1"/>
                </a:solidFill>
              </a:rPr>
              <a:t> a </a:t>
            </a:r>
            <a:r>
              <a:rPr lang="en-US" sz="4200" spc="150" dirty="0" err="1">
                <a:solidFill>
                  <a:schemeClr val="bg1"/>
                </a:solidFill>
              </a:rPr>
              <a:t>figyelmet</a:t>
            </a:r>
            <a:r>
              <a:rPr lang="en-US" sz="4200" spc="150" dirty="0">
                <a:solidFill>
                  <a:schemeClr val="bg1"/>
                </a:solidFill>
              </a:rPr>
              <a:t>!</a:t>
            </a:r>
            <a:br>
              <a:rPr lang="en-US" sz="4200" spc="150" dirty="0">
                <a:solidFill>
                  <a:schemeClr val="bg1"/>
                </a:solidFill>
              </a:rPr>
            </a:br>
            <a:r>
              <a:rPr lang="en-US" sz="4200" spc="150" dirty="0">
                <a:solidFill>
                  <a:schemeClr val="bg1"/>
                </a:solidFill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386402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ávos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ávo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ávo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TM03090430[[fn=Sávos]]</Template>
  <TotalTime>373</TotalTime>
  <Words>673</Words>
  <Application>Microsoft Office PowerPoint</Application>
  <PresentationFormat>Diavetítés a képernyőre (4:3 oldalarány)</PresentationFormat>
  <Paragraphs>90</Paragraphs>
  <Slides>13</Slides>
  <Notes>0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Arial</vt:lpstr>
      <vt:lpstr>Consolas</vt:lpstr>
      <vt:lpstr>Corbel</vt:lpstr>
      <vt:lpstr>gg sans</vt:lpstr>
      <vt:lpstr>Wingdings</vt:lpstr>
      <vt:lpstr>Sávos</vt:lpstr>
      <vt:lpstr>Star Design Weboldal</vt:lpstr>
      <vt:lpstr>Bevezetés</vt:lpstr>
      <vt:lpstr>Weboldal felépítése</vt:lpstr>
      <vt:lpstr>PowerPoint-bemutató</vt:lpstr>
      <vt:lpstr>Kapcsolati űrlap</vt:lpstr>
      <vt:lpstr>Admin felület</vt:lpstr>
      <vt:lpstr>Virtuális Tervező varázsló</vt:lpstr>
      <vt:lpstr>Probléma - megoldás</vt:lpstr>
      <vt:lpstr>Kódrészlet bemutatása</vt:lpstr>
      <vt:lpstr>Kódrészlet leírása</vt:lpstr>
      <vt:lpstr>Feladatok és csapatmunka</vt:lpstr>
      <vt:lpstr>Summary and future plans</vt:lpstr>
      <vt:lpstr>Köszönjük a figyelmet! Thank you for your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Robi</dc:creator>
  <cp:keywords/>
  <dc:description>generated using python-pptx</dc:description>
  <cp:lastModifiedBy>Róbert Endrész</cp:lastModifiedBy>
  <cp:revision>5</cp:revision>
  <dcterms:created xsi:type="dcterms:W3CDTF">2013-01-27T09:14:16Z</dcterms:created>
  <dcterms:modified xsi:type="dcterms:W3CDTF">2026-04-28T20:40:49Z</dcterms:modified>
  <cp:category/>
</cp:coreProperties>
</file>